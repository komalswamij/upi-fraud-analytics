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Transaction Type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2D3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Send</c:v>
                  </c:pt>
                  <c:pt idx="1">
                    <c:v>Receive</c:v>
                  </c:pt>
                  <c:pt idx="2">
                    <c:v>Merchant Payment</c:v>
                  </c:pt>
                  <c:pt idx="3">
                    <c:v>Bill Pay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35032</c:v>
                </c:pt>
                <c:pt idx="1">
                  <c:v>34819</c:v>
                </c:pt>
                <c:pt idx="2">
                  <c:v>25097</c:v>
                </c:pt>
                <c:pt idx="3">
                  <c:v>5052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Transaction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bubble3D val="0"/>
            <c:spPr>
              <a:solidFill>
                <a:srgbClr val="B91C1C"/>
              </a:solidFill>
              <a:effectLst/>
            </c:spPr>
          </c:dPt>
          <c:dPt>
            <c:idx val="2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Success (92.1%)</c:v>
                </c:pt>
                <c:pt idx="1">
                  <c:v>Failed (5.9%)</c:v>
                </c:pt>
                <c:pt idx="2">
                  <c:v>Pending (2.0%)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92100</c:v>
                </c:pt>
                <c:pt idx="1">
                  <c:v>5900</c:v>
                </c:pt>
                <c:pt idx="2">
                  <c:v>2000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Fraud vs Legitimate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Label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Legitimate (98%)</c:v>
                </c:pt>
                <c:pt idx="1">
                  <c:v>Fraud (2%)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98000</c:v>
                </c:pt>
                <c:pt idx="1">
                  <c:v>2000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Fraud Rate by Device Type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2D3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feature_phone</c:v>
                  </c:pt>
                  <c:pt idx="1">
                    <c:v>tablet</c:v>
                  </c:pt>
                  <c:pt idx="2">
                    <c:v>android</c:v>
                  </c:pt>
                  <c:pt idx="3">
                    <c:v>iOS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2.15</c:v>
                </c:pt>
                <c:pt idx="1">
                  <c:v>1.99</c:v>
                </c:pt>
                <c:pt idx="2">
                  <c:v>1.99</c:v>
                </c:pt>
                <c:pt idx="3">
                  <c:v>1.86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3"/>
          <c:min val="1.7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Fraud Rate by Region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2D3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Central</c:v>
                  </c:pt>
                  <c:pt idx="1">
                    <c:v>North</c:v>
                  </c:pt>
                  <c:pt idx="2">
                    <c:v>East</c:v>
                  </c:pt>
                  <c:pt idx="3">
                    <c:v>South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1.94</c:v>
                </c:pt>
                <c:pt idx="1">
                  <c:v>1.94</c:v>
                </c:pt>
                <c:pt idx="2">
                  <c:v>2</c:v>
                </c:pt>
                <c:pt idx="3">
                  <c:v>2.03</c:v>
                </c:pt>
                <c:pt idx="4">
                  <c:v>2.09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1.8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Fraud Rate by Channel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Intent</c:v>
                  </c:pt>
                  <c:pt idx="1">
                    <c:v>App</c:v>
                  </c:pt>
                  <c:pt idx="2">
                    <c:v>QR Code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1.89</c:v>
                </c:pt>
                <c:pt idx="1">
                  <c:v>2.02</c:v>
                </c:pt>
                <c:pt idx="2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1.7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Fraud Rate by Merchant Type — Platform Avg 2.0%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Grocery</c:v>
                  </c:pt>
                  <c:pt idx="1">
                    <c:v>Transport</c:v>
                  </c:pt>
                  <c:pt idx="2">
                    <c:v>Food</c:v>
                  </c:pt>
                  <c:pt idx="3">
                    <c:v>Online</c:v>
                  </c:pt>
                  <c:pt idx="4">
                    <c:v>Apparel</c:v>
                  </c:pt>
                  <c:pt idx="5">
                    <c:v>Electronics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1.97</c:v>
                </c:pt>
                <c:pt idx="2">
                  <c:v>1.97</c:v>
                </c:pt>
                <c:pt idx="3">
                  <c:v>2.05</c:v>
                </c:pt>
                <c:pt idx="4">
                  <c:v>2.22</c:v>
                </c:pt>
                <c:pt idx="5">
                  <c:v>2.24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E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Monthly Transaction Volume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Volume</c:v>
                </c:pt>
              </c:strCache>
            </c:strRef>
          </c:tx>
          <c:spPr>
            <a:solidFill>
              <a:srgbClr val="2D3A8C"/>
            </a:solidFill>
            <a:ln w="31750" cap="flat">
              <a:solidFill>
                <a:srgbClr val="2D3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3A8C"/>
              </a:solidFill>
              <a:ln w="9525" cap="flat">
                <a:solidFill>
                  <a:srgbClr val="2D3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5870</c:v>
                </c:pt>
                <c:pt idx="1">
                  <c:v>5960</c:v>
                </c:pt>
                <c:pt idx="2">
                  <c:v>7800</c:v>
                </c:pt>
                <c:pt idx="3">
                  <c:v>8500</c:v>
                </c:pt>
                <c:pt idx="4">
                  <c:v>10600</c:v>
                </c:pt>
                <c:pt idx="5">
                  <c:v>13000</c:v>
                </c:pt>
                <c:pt idx="6">
                  <c:v>21300</c:v>
                </c:pt>
                <c:pt idx="7">
                  <c:v>10050</c:v>
                </c:pt>
                <c:pt idx="8">
                  <c:v>3680</c:v>
                </c:pt>
                <c:pt idx="9">
                  <c:v>4150</c:v>
                </c:pt>
                <c:pt idx="10">
                  <c:v>4500</c:v>
                </c:pt>
                <c:pt idx="11">
                  <c:v>5150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E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Monthly Fraud Rate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B91C1C"/>
            </a:solidFill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1.67</c:v>
                </c:pt>
                <c:pt idx="1">
                  <c:v>2.24</c:v>
                </c:pt>
                <c:pt idx="2">
                  <c:v>2.08</c:v>
                </c:pt>
                <c:pt idx="3">
                  <c:v>1.8</c:v>
                </c:pt>
                <c:pt idx="4">
                  <c:v>2</c:v>
                </c:pt>
                <c:pt idx="5">
                  <c:v>2.02</c:v>
                </c:pt>
                <c:pt idx="6">
                  <c:v>2.02</c:v>
                </c:pt>
                <c:pt idx="7">
                  <c:v>2.05</c:v>
                </c:pt>
                <c:pt idx="8">
                  <c:v>2.06</c:v>
                </c:pt>
                <c:pt idx="9">
                  <c:v>2.05</c:v>
                </c:pt>
                <c:pt idx="10">
                  <c:v>2.49</c:v>
                </c:pt>
                <c:pt idx="11">
                  <c:v>1.83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1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E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Top Feature Importance Scores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D3A8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customer_fraud_count</c:v>
                  </c:pt>
                  <c:pt idx="1">
                    <c:v>is_rooted</c:v>
                  </c:pt>
                  <c:pt idx="2">
                    <c:v>merchant_fraud_ratio</c:v>
                  </c:pt>
                  <c:pt idx="3">
                    <c:v>amount</c:v>
                  </c:pt>
                  <c:pt idx="4">
                    <c:v>account_age_days</c:v>
                  </c:pt>
                  <c:pt idx="5">
                    <c:v>days_since_active</c:v>
                  </c:pt>
                  <c:pt idx="6">
                    <c:v>amount_vs_avg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0.73</c:v>
                </c:pt>
                <c:pt idx="1">
                  <c:v>0.1</c:v>
                </c:pt>
                <c:pt idx="2">
                  <c:v>0.04</c:v>
                </c:pt>
                <c:pt idx="3">
                  <c:v>0.03</c:v>
                </c:pt>
                <c:pt idx="4">
                  <c:v>0.025</c:v>
                </c:pt>
                <c:pt idx="5">
                  <c:v>0.022</c:v>
                </c:pt>
                <c:pt idx="6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E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3D"/>
                </a:solidFill>
                <a:latin typeface="Arial"/>
              </a:rPr>
              <a:t>Transactions by Risk Tier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Pt>
            <c:idx val="2"/>
            <c:bubble3D val="0"/>
            <c:spPr>
              <a:solidFill>
                <a:srgbClr val="B91C1C"/>
              </a:solidFill>
              <a:effectLst/>
            </c:spPr>
          </c:dPt>
          <c:dPt>
            <c:idx val="3"/>
            <c:bubble3D val="0"/>
            <c:spPr>
              <a:solidFill>
                <a:srgbClr val="7F1D1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LOW (74.6%)</c:v>
                </c:pt>
                <c:pt idx="1">
                  <c:v>MEDIUM (2.6%)</c:v>
                </c:pt>
                <c:pt idx="2">
                  <c:v>HIGH (14.9%)</c:v>
                </c:pt>
                <c:pt idx="3">
                  <c:v>CRITICAL (8.0%)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74570</c:v>
                </c:pt>
                <c:pt idx="1">
                  <c:v>2568</c:v>
                </c:pt>
                <c:pt idx="2">
                  <c:v>14852</c:v>
                </c:pt>
                <c:pt idx="3">
                  <c:v>8010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-640080"/>
            <a:ext cx="2194560" cy="2194560"/>
          </a:xfrm>
          <a:prstGeom prst="ellipse">
            <a:avLst/>
          </a:prstGeom>
          <a:solidFill>
            <a:srgbClr val="1A2860">
              <a:alpha val="70000"/>
            </a:srgbClr>
          </a:solidFill>
          <a:ln w="12700">
            <a:solidFill>
              <a:srgbClr val="1A2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3749040"/>
            <a:ext cx="2560320" cy="2560320"/>
          </a:xfrm>
          <a:prstGeom prst="ellipse">
            <a:avLst/>
          </a:prstGeom>
          <a:solidFill>
            <a:srgbClr val="1A2860">
              <a:alpha val="80000"/>
            </a:srgbClr>
          </a:solidFill>
          <a:ln w="12700">
            <a:solidFill>
              <a:srgbClr val="1A28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09728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Fraud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11480" y="32918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of 100K UPI transactions — identifying fraud patterns, building a predictive model, and delivering actionable intelligence for the business.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1480" y="4315968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1E3468"/>
          </a:solidFill>
          <a:ln w="12700">
            <a:solidFill>
              <a:srgbClr val="1E346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425696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43891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Komal Swami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5840" y="46360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·  June 2026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74920" y="3657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EEEF5"/>
          </a:solidFill>
          <a:ln w="12700">
            <a:solidFill>
              <a:srgbClr val="EEEEF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6400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42432" y="493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Data Cleaning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742432" y="7863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pipeline on 100K UPI transactions with 9 engineered features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74920" y="1517904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EEEF5"/>
          </a:solidFill>
          <a:ln w="12700">
            <a:solidFill>
              <a:srgbClr val="EEEEF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79222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42432" y="1645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Statistical Analysis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742432" y="193852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discovery across device, channel, region and merchant dimensions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074920" y="2670048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EEEF5"/>
          </a:solidFill>
          <a:ln w="12700">
            <a:solidFill>
              <a:srgbClr val="EEEEF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2944368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42432" y="27980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ML Model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742432" y="309067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fraud classifier — AUC 0.905, capturing 94% of all fraud cases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074920" y="3822192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EEEF5"/>
          </a:solidFill>
          <a:ln w="12700">
            <a:solidFill>
              <a:srgbClr val="EEEEF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409651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742432" y="39502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BI Dashboard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742432" y="42428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with drill-through and executive KPI views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945843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9458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processes billions of transactions monthly, making it India's largest real-time payment network — and a high-value target for fraud. With 2% of transactions fraudulent across 100,000 records, the platform loses money and customer trust with every missed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633472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24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Missed Fraud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loss + regulatory risk + reputational damage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21024"/>
            <a:ext cx="4297680" cy="82296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712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False Block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023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friction + churn + revenue leakage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1704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Objectives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83480" y="1572768"/>
            <a:ext cx="3931920" cy="713232"/>
          </a:xfrm>
          <a:prstGeom prst="roundRect">
            <a:avLst>
              <a:gd name="adj" fmla="val 15385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700784"/>
            <a:ext cx="420624" cy="42062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16642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fraud risk factors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19385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device, channel, region and merchant dimensions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83480" y="2423160"/>
            <a:ext cx="3931920" cy="713232"/>
          </a:xfrm>
          <a:prstGeom prst="roundRect">
            <a:avLst>
              <a:gd name="adj" fmla="val 15385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551176"/>
            <a:ext cx="420624" cy="42062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25146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27889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fraud before it completes — 94% recall achieved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3273552"/>
            <a:ext cx="3931920" cy="713232"/>
          </a:xfrm>
          <a:prstGeom prst="roundRect">
            <a:avLst>
              <a:gd name="adj" fmla="val 15385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401568"/>
            <a:ext cx="420624" cy="42062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33649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risk scoring engine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36393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every transaction into LOW / MEDIUM / HIGH / CRITICAL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4123944"/>
            <a:ext cx="3931920" cy="713232"/>
          </a:xfrm>
          <a:prstGeom prst="roundRect">
            <a:avLst>
              <a:gd name="adj" fmla="val 15385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0" y="4251960"/>
            <a:ext cx="420624" cy="42062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42153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insights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0" y="44897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controls the business can implement immediately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044598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0445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 — 100K UPI Transactions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1572768" cy="1417320"/>
          </a:xfrm>
          <a:prstGeom prst="roundRect">
            <a:avLst>
              <a:gd name="adj" fmla="val 7742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789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56032" y="17373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20482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analysed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572768" cy="1417320"/>
          </a:xfrm>
          <a:prstGeom prst="roundRect">
            <a:avLst>
              <a:gd name="adj" fmla="val 7742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0789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993392" y="17373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Fraud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93392" y="20482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fraud cases detected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30752" y="1005840"/>
            <a:ext cx="1572768" cy="1417320"/>
          </a:xfrm>
          <a:prstGeom prst="roundRect">
            <a:avLst>
              <a:gd name="adj" fmla="val 774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0752" y="10789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730752" y="17373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Success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0752" y="20482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payment completion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68112" y="1005840"/>
            <a:ext cx="1572768" cy="1417320"/>
          </a:xfrm>
          <a:prstGeom prst="roundRect">
            <a:avLst>
              <a:gd name="adj" fmla="val 7742"/>
            </a:avLst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68112" y="10789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468112" y="17373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Amount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68112" y="20482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₹33 — right skewed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05472" y="1005840"/>
            <a:ext cx="1572768" cy="1417320"/>
          </a:xfrm>
          <a:prstGeom prst="roundRect">
            <a:avLst>
              <a:gd name="adj" fmla="val 774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05472" y="107899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205472" y="17373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Resolution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05472" y="20482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alerts resolved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92608" y="265176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4663440" y="2651760"/>
          <a:ext cx="2103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7" name="Chart 2" descr=""/>
          <p:cNvGraphicFramePr/>
          <p:nvPr/>
        </p:nvGraphicFramePr>
        <p:xfrm>
          <a:off x="6903720" y="2651760"/>
          <a:ext cx="2011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945843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9458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Power Query — Cleaning &amp; Feature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688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94360" y="324612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2918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" y="36758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92808" y="324612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92808" y="32918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892808" y="36758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91256" y="3246120"/>
            <a:ext cx="117043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91256" y="329184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191256" y="36758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41879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power_query_final.xlsx → Python ML pipeline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26280" y="1005840"/>
            <a:ext cx="4389120" cy="658368"/>
          </a:xfrm>
          <a:prstGeom prst="roundRect">
            <a:avLst>
              <a:gd name="adj" fmla="val 16667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5152" y="1115568"/>
            <a:ext cx="420624" cy="42062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45152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193792" y="1078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Ingestion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93792" y="1353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transactions loaded; schema validation and data type enforcement applied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26280" y="1773936"/>
            <a:ext cx="4389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45152" y="1883664"/>
            <a:ext cx="420624" cy="42062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45152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93792" y="1847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193792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audit across 20+ columns — no missing values detected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26280" y="2542032"/>
            <a:ext cx="4389120" cy="658368"/>
          </a:xfrm>
          <a:prstGeom prst="roundRect">
            <a:avLst>
              <a:gd name="adj" fmla="val 16667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45152" y="2651760"/>
            <a:ext cx="420624" cy="42062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45152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193792" y="2615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193792" y="2889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fraud-signal features built: is_rooted, channel_mismatch, merchant_fraud_ratio, amount_vs_avg, account_age and more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26280" y="3310128"/>
            <a:ext cx="4389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5152" y="3419856"/>
            <a:ext cx="420624" cy="42062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193792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193792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fraud rate flagged; class-weighted training applied in model step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26280" y="4078224"/>
            <a:ext cx="4389120" cy="658368"/>
          </a:xfrm>
          <a:prstGeom prst="roundRect">
            <a:avLst>
              <a:gd name="adj" fmla="val 16667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45152" y="4187952"/>
            <a:ext cx="420624" cy="42062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45152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193792" y="4151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Analysis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193792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 exported for Python statistical analysis and ML training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52067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520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Analysis — Device Intelligence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846320" cy="2011680"/>
          </a:xfrm>
          <a:prstGeom prst="roundRect">
            <a:avLst>
              <a:gd name="adj" fmla="val 6364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5B6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</a:t>
            </a: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2423160" y="1188720"/>
            <a:ext cx="0" cy="1645920"/>
          </a:xfrm>
          <a:prstGeom prst="line">
            <a:avLst/>
          </a:prstGeom>
          <a:noFill/>
          <a:ln w="12700">
            <a:solidFill>
              <a:srgbClr val="2D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11556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fraud risk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rooted devices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78608" y="1719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20.69%  vs  1.39%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578608" y="20665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          Non-rooted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20.69%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6027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OS security — intercepts OTP, spoofs location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023360"/>
            <a:ext cx="4846320" cy="713232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114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Non-Rooted Devices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4114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44256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security environment — low fraud exposure</a:t>
            </a:r>
            <a:endParaRPr lang="en-US" sz="10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394960" y="1005840"/>
          <a:ext cx="35204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394960" y="3584448"/>
            <a:ext cx="3520440" cy="1261872"/>
          </a:xfrm>
          <a:prstGeom prst="roundRect">
            <a:avLst>
              <a:gd name="adj" fmla="val 7246"/>
            </a:avLst>
          </a:prstGeom>
          <a:solidFill>
            <a:srgbClr val="E8EAFD"/>
          </a:solidFill>
          <a:ln w="12700">
            <a:solidFill>
              <a:srgbClr val="C7D2F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3730752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989320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532120" y="400507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device integrity checks at transaction initiation. Route all rooted device transactions to CRITICAL risk tier — estimated to reduce platform fraud rate from 2.0% to below 1.7%.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143354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1433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&amp; CHANNEL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Analysis — Region &amp; Channel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005840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703320"/>
            <a:ext cx="4572000" cy="1188720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822192"/>
            <a:ext cx="329184" cy="329184"/>
          </a:xfrm>
          <a:prstGeom prst="ellipse">
            <a:avLst/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37490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not a primary fraud driver — only 0.15% spread across all 5 regions. Fraud is a platform-wide issue. Controls should focus on behavioural and device signals, not geography.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20640" y="987552"/>
            <a:ext cx="1945843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0" y="987552"/>
            <a:ext cx="19458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ANALYSIS</a:t>
            </a:r>
            <a:endParaRPr lang="en-US" sz="9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5120640" y="1234440"/>
          <a:ext cx="37490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5120640" y="3456432"/>
            <a:ext cx="3749040" cy="1435608"/>
          </a:xfrm>
          <a:prstGeom prst="roundRect">
            <a:avLst>
              <a:gd name="adj" fmla="val 636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359359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9280" y="3547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Channel-Device Mismatch Signal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669280" y="38404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17,007 transactions showed a mismatch between channel and device type.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669280" y="4160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fraud rate: 2.22%  vs  Matched: 1.95%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669280" y="44439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this flag into real-time scoring adds a near-zero-cost fraud signal.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649578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649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Analysis — Merchant Categories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960120"/>
          <a:ext cx="4846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40680" y="96012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96128" y="1051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Electronics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0" y="1051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2.24%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96128" y="1399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goods — premium fraud target. Recommend biometric auth for transactions above ₹500.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40680" y="19659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96128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👕  Apparel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89520" y="2057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96128" y="2404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value drives fraud. Implement additional verification for first-time purchases.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40680" y="297180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6128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Online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589520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2.05%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96128" y="3410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Digital-only — no physical verification layer. Monitor for pattern-based fraud clusters.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40680" y="397764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4069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Grocery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89520" y="4069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96128" y="4416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 category — low ticket size and predictable patterns keep fraud minimal.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340864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 &amp; Fraud Trends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00584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" y="3429000"/>
          <a:ext cx="53035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897880" y="100584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3504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July Volume Spike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035040" y="14081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21,300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035040" y="17556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above June — investigate promotional event vs pipeline duplication.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97880" y="237744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35040" y="2468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  November Fraud Peak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35040" y="27797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035040" y="31272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monthly fraud rate — likely festive season exploitation. Recommend tightened thresholds Oct–Nov.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897880" y="374904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3504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September Low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35040" y="41513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3,680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035040" y="44988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drop to lowest month — verify data completeness in source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945843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9458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Fraud Detection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96926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5544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AUC–ROC Score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6032" y="1801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discriminative power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9144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32304" y="96926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32304" y="15544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Recall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32304" y="1801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24 fraud cases missed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9144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96926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8.86%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08576" y="15544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801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at 2% fraud base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84848" y="9144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84848" y="96926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84848" y="15544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 Caught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84848" y="1801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400 in test set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633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10896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1560" y="281635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281635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1560" y="3035808"/>
            <a:ext cx="1280160" cy="822960"/>
          </a:xfrm>
          <a:prstGeom prst="rect">
            <a:avLst/>
          </a:prstGeom>
          <a:solidFill>
            <a:srgbClr val="1B2F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30358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15,731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377440" y="3035808"/>
            <a:ext cx="1280160" cy="82296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303580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3,869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51560" y="3895344"/>
            <a:ext cx="1280160" cy="82296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3895344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377440" y="3895344"/>
            <a:ext cx="1280160" cy="822960"/>
          </a:xfrm>
          <a:prstGeom prst="rect">
            <a:avLst/>
          </a:prstGeom>
          <a:solidFill>
            <a:srgbClr val="1D7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895344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33832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206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95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3977640" y="2212848"/>
          <a:ext cx="49377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411480" y="4754880"/>
            <a:ext cx="3749040" cy="256032"/>
          </a:xfrm>
          <a:prstGeom prst="roundRect">
            <a:avLst>
              <a:gd name="adj" fmla="val 3571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6072" y="47548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recall means only 24 frauds slip through per 400 — operationally strong for real-time deployment.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160520" y="4754880"/>
            <a:ext cx="4754880" cy="256032"/>
          </a:xfrm>
          <a:prstGeom prst="roundRect">
            <a:avLst>
              <a:gd name="adj" fmla="val 3571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25112" y="475488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is_rooted ranks 2nd in importance — confirms the device risk finding independently through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242109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2421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Risk Tiering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LOW — Auto-Approve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75888" y="987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74,570 txns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75888" y="1261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(74.6%)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99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friction required — process immediately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801368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MEDIUM — OTP Challenge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75888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2,568 txns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2167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(2.6%)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3042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identity via SMS OTP before proceeding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706624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 — Step-up Auth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75888" y="27980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14,852 txns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75888" y="30723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(14.9%)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2095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or secondary-factor authentication required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611880"/>
            <a:ext cx="4983480" cy="749808"/>
          </a:xfrm>
          <a:prstGeom prst="roundRect">
            <a:avLst>
              <a:gd name="adj" fmla="val 14634"/>
            </a:avLst>
          </a:prstGeom>
          <a:solidFill>
            <a:srgbClr val="3B0A0A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03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CRITICAL — Block &amp; Alert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75888" y="3703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8,010 txns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75888" y="3977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(8.0%)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1148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 + instant customer alert — analyst review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577840" y="868680"/>
          <a:ext cx="33375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11480" y="44988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of Risk Tiering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11480" y="4818888"/>
            <a:ext cx="2724912" cy="566928"/>
          </a:xfrm>
          <a:prstGeom prst="roundRect">
            <a:avLst>
              <a:gd name="adj" fmla="val 1935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9496" y="48646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74,570 transactions auto-approved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9496" y="5120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 for legitimate customers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91840" y="4818888"/>
            <a:ext cx="2724912" cy="566928"/>
          </a:xfrm>
          <a:prstGeom prst="roundRect">
            <a:avLst>
              <a:gd name="adj" fmla="val 1935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19856" y="48646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22,862 flagged for review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419856" y="5120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+ CRITICAL tier get human oversight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72200" y="4818888"/>
            <a:ext cx="2724912" cy="566928"/>
          </a:xfrm>
          <a:prstGeom prst="roundRect">
            <a:avLst>
              <a:gd name="adj" fmla="val 1935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48646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2,568 soft-challenged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00216" y="5120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check — minimal friction for MEDIUM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143354" cy="246888"/>
          </a:xfrm>
          <a:prstGeom prst="roundRect">
            <a:avLst>
              <a:gd name="adj" fmla="val 33333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21433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Recommendations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81912" y="1051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Deploy Device Integrity Checks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13441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 carry 20.69% fraud rate — 15× the platform average of 1.39%.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" y="1636776"/>
            <a:ext cx="3822192" cy="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719072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95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SafetyNet / DeviceCheck API at transaction initiation. Route rooted sessions to CRITICAL tier automatically.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960120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105156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0515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833872" y="1051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Add Mismatch Flag to Scoring Engine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91456" y="13441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17,007 channel-device mismatches show 2.22% fraud vs 1.95% for matched — a 14% uplift.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91456" y="1636776"/>
            <a:ext cx="3822192" cy="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719072"/>
            <a:ext cx="164592" cy="1645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1091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channel_device_mismatch as a standalone real-time rule before ML scoring. Near-zero computational cost.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1480" y="2331720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242316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581912" y="2423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Enhanced Controls for Electronics &amp; Apparel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39496" y="27157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(2.24%) and Apparel (2.22%) exceed platform average by 10%+.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39496" y="3008376"/>
            <a:ext cx="3822192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090672"/>
            <a:ext cx="164592" cy="16459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58952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biometric verification for purchases above ₹500 in these two merchant categories.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663440" y="2331720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754880" y="242316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54880" y="2423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5833872" y="2423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Seasonal Fraud Controls (October–November)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791456" y="27157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fraud peaks at 2.49% — likely festive season exploitation (Diwali / year-end).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791456" y="3008376"/>
            <a:ext cx="3822192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3090672"/>
            <a:ext cx="164592" cy="16459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010912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tightened decision thresholds Oct–Nov, or retrain model on festive-period data separately.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11480" y="3703320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02920" y="379476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02920" y="37947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1581912" y="3794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SHAP Explainability for Fraud Analysts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539496" y="40873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flags transactions but analysts need to understand why a specific transaction was blocked.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539496" y="4379976"/>
            <a:ext cx="3822192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4462272"/>
            <a:ext cx="164592" cy="16459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58952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SHAP values into the scoring API — output top 3 fraud reasons per transaction for analyst queues.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4663440" y="3703320"/>
            <a:ext cx="4069080" cy="1261872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4754880" y="379476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754880" y="37947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5833872" y="3794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Model Monitoring &amp; Drift Detection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4791456" y="40873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evolve — a model trained today will degrade without retraining.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4791456" y="4379976"/>
            <a:ext cx="3822192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4462272"/>
            <a:ext cx="164592" cy="164592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010912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Population Stability Index (PSI) monitoring weekly. Alert at PSI &gt; 0.2, auto-retrain at PSI &gt; 0.25.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-640080"/>
            <a:ext cx="2194560" cy="2194560"/>
          </a:xfrm>
          <a:prstGeom prst="ellipse">
            <a:avLst/>
          </a:prstGeom>
          <a:solidFill>
            <a:srgbClr val="1A2860">
              <a:alpha val="70000"/>
            </a:srgbClr>
          </a:solidFill>
          <a:ln w="12700">
            <a:solidFill>
              <a:srgbClr val="1A2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3657600"/>
            <a:ext cx="2560320" cy="2560320"/>
          </a:xfrm>
          <a:prstGeom prst="ellipse">
            <a:avLst/>
          </a:prstGeom>
          <a:solidFill>
            <a:srgbClr val="1A2860">
              <a:alpha val="80000"/>
            </a:srgbClr>
          </a:solidFill>
          <a:ln w="12700">
            <a:solidFill>
              <a:srgbClr val="1A28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0972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11480" y="2121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1E3468"/>
          </a:solidFill>
          <a:ln w="12700">
            <a:solidFill>
              <a:srgbClr val="1E34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7249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20240" y="269748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1E3468"/>
          </a:solidFill>
          <a:ln w="12700">
            <a:solidFill>
              <a:srgbClr val="1E346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0240" y="27249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920240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0" y="2697480"/>
            <a:ext cx="1325880" cy="1005840"/>
          </a:xfrm>
          <a:prstGeom prst="roundRect">
            <a:avLst>
              <a:gd name="adj" fmla="val 9091"/>
            </a:avLst>
          </a:prstGeom>
          <a:solidFill>
            <a:srgbClr val="1E3468"/>
          </a:solidFill>
          <a:ln w="12700">
            <a:solidFill>
              <a:srgbClr val="1E346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27249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383280" y="32186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4114800" cy="1024128"/>
          </a:xfrm>
          <a:prstGeom prst="roundRect">
            <a:avLst>
              <a:gd name="adj" fmla="val 10714"/>
            </a:avLst>
          </a:prstGeom>
          <a:solidFill>
            <a:srgbClr val="1A2E60"/>
          </a:solidFill>
          <a:ln w="12700">
            <a:solidFill>
              <a:srgbClr val="1A2E6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233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Komal Swami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051560" y="43159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051560" y="45537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Bikaner, Rajasthan  ·  June 2026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74920" y="3474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the Business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074920" y="868680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93792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596128" y="978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 carry 15× more fraud risk — block them at initiation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074920" y="1545336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193792" y="1655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596128" y="16550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0.905 model detects 94% of fraud before it completes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74920" y="2221992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193792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596128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channel and Electronics merchants need enhanced controls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074920" y="2898648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193792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5596128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is the highest-risk month — seasonal controls recommended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074920" y="3575304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E8EAFD"/>
          </a:solidFill>
          <a:ln w="12700">
            <a:solidFill>
              <a:srgbClr val="E8EAF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193792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5596128" y="3685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Channel-device mismatch is a free, high-signal real-time fraud flag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074920" y="4251960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193792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5596128" y="4361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74.6% of transactions are LOW risk — approve without friction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074920" y="4846320"/>
            <a:ext cx="3840480" cy="201168"/>
          </a:xfrm>
          <a:prstGeom prst="roundRect">
            <a:avLst>
              <a:gd name="adj" fmla="val 36364"/>
            </a:avLst>
          </a:prstGeom>
          <a:solidFill>
            <a:srgbClr val="3D4FE0"/>
          </a:solidFill>
          <a:ln w="12700">
            <a:solidFill>
              <a:srgbClr val="3D4FE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074920" y="4846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Fraud Detection &amp; Analysis — Komal Swami</dc:title>
  <dc:subject>PptxGenJS Presentation</dc:subject>
  <dc:creator>PptxGenJS</dc:creator>
  <cp:lastModifiedBy>PptxGenJS</cp:lastModifiedBy>
  <cp:revision>1</cp:revision>
  <dcterms:created xsi:type="dcterms:W3CDTF">2026-06-13T20:48:57Z</dcterms:created>
  <dcterms:modified xsi:type="dcterms:W3CDTF">2026-06-13T20:48:57Z</dcterms:modified>
</cp:coreProperties>
</file>